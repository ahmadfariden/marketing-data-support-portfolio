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Sales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Bandung</c:v>
                  </c:pt>
                  <c:pt idx="1">
                    <c:v>Bekasi</c:v>
                  </c:pt>
                  <c:pt idx="2">
                    <c:v>Bogor</c:v>
                  </c:pt>
                  <c:pt idx="3">
                    <c:v>Cibubur</c:v>
                  </c:pt>
                  <c:pt idx="4">
                    <c:v>Cikarang</c:v>
                  </c:pt>
                  <c:pt idx="5">
                    <c:v>Depok</c:v>
                  </c:pt>
                  <c:pt idx="6">
                    <c:v>Jak-Sel</c:v>
                  </c:pt>
                  <c:pt idx="7">
                    <c:v>Jak-Tim</c:v>
                  </c:pt>
                  <c:pt idx="8">
                    <c:v>Karawang</c:v>
                  </c:pt>
                  <c:pt idx="9">
                    <c:v>Serang</c:v>
                  </c:pt>
                  <c:pt idx="10">
                    <c:v>Sukabumi</c:v>
                  </c:pt>
                  <c:pt idx="11">
                    <c:v>Tangerang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0.906597</c:v>
                </c:pt>
                <c:pt idx="1">
                  <c:v>0.923721</c:v>
                </c:pt>
                <c:pt idx="2">
                  <c:v>0.598845</c:v>
                </c:pt>
                <c:pt idx="3">
                  <c:v>0.800267</c:v>
                </c:pt>
                <c:pt idx="4">
                  <c:v>0.760218</c:v>
                </c:pt>
                <c:pt idx="5">
                  <c:v>0.768832</c:v>
                </c:pt>
                <c:pt idx="6">
                  <c:v>0.918489</c:v>
                </c:pt>
                <c:pt idx="7">
                  <c:v>0.532139</c:v>
                </c:pt>
                <c:pt idx="8">
                  <c:v>0.862042</c:v>
                </c:pt>
                <c:pt idx="9">
                  <c:v>0.650659</c:v>
                </c:pt>
                <c:pt idx="10">
                  <c:v>0.924626</c:v>
                </c:pt>
                <c:pt idx="11">
                  <c:v>0.787054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Revenue</c:v>
                </c:pt>
              </c:strCache>
            </c:strRef>
          </c:tx>
          <c:spPr>
            <a:solidFill>
              <a:srgbClr val="F9A8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Bandung</c:v>
                  </c:pt>
                  <c:pt idx="1">
                    <c:v>Bekasi</c:v>
                  </c:pt>
                  <c:pt idx="2">
                    <c:v>Bogor</c:v>
                  </c:pt>
                  <c:pt idx="3">
                    <c:v>Cibubur</c:v>
                  </c:pt>
                  <c:pt idx="4">
                    <c:v>Cikarang</c:v>
                  </c:pt>
                  <c:pt idx="5">
                    <c:v>Depok</c:v>
                  </c:pt>
                  <c:pt idx="6">
                    <c:v>Jak-Sel</c:v>
                  </c:pt>
                  <c:pt idx="7">
                    <c:v>Jak-Tim</c:v>
                  </c:pt>
                  <c:pt idx="8">
                    <c:v>Karawang</c:v>
                  </c:pt>
                  <c:pt idx="9">
                    <c:v>Serang</c:v>
                  </c:pt>
                  <c:pt idx="10">
                    <c:v>Sukabumi</c:v>
                  </c:pt>
                  <c:pt idx="11">
                    <c:v>Tangerang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0.52</c:v>
                </c:pt>
                <c:pt idx="1">
                  <c:v>0.26</c:v>
                </c:pt>
                <c:pt idx="2">
                  <c:v>0.208</c:v>
                </c:pt>
                <c:pt idx="3">
                  <c:v>0.468</c:v>
                </c:pt>
                <c:pt idx="4">
                  <c:v>0.26</c:v>
                </c:pt>
                <c:pt idx="5">
                  <c:v>0.26</c:v>
                </c:pt>
                <c:pt idx="6">
                  <c:v>0.468</c:v>
                </c:pt>
                <c:pt idx="7">
                  <c:v>0.26</c:v>
                </c:pt>
                <c:pt idx="8">
                  <c:v>0.312</c:v>
                </c:pt>
                <c:pt idx="9">
                  <c:v>0.468</c:v>
                </c:pt>
                <c:pt idx="10">
                  <c:v>0.468</c:v>
                </c:pt>
                <c:pt idx="11">
                  <c:v>0.364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5F73"/>
                    </a:solidFill>
                    <a:latin typeface="Arial"/>
                  </a:rPr>
                  <a:t>Miliar Rupiah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(Miliar Rp)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NMAX</c:v>
                  </c:pt>
                  <c:pt idx="1">
                    <c:v>Aerox</c:v>
                  </c:pt>
                  <c:pt idx="2">
                    <c:v>Lexi</c:v>
                  </c:pt>
                  <c:pt idx="3">
                    <c:v>Fazzio</c:v>
                  </c:pt>
                  <c:pt idx="4">
                    <c:v>XSR 155</c:v>
                  </c:pt>
                  <c:pt idx="5">
                    <c:v>MX King</c:v>
                  </c:pt>
                  <c:pt idx="6">
                    <c:v>Mio</c:v>
                  </c:pt>
                  <c:pt idx="7">
                    <c:v>Gr. Filano</c:v>
                  </c:pt>
                  <c:pt idx="8">
                    <c:v>Gear</c:v>
                  </c:pt>
                  <c:pt idx="9">
                    <c:v>Freego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2.63176</c:v>
                </c:pt>
                <c:pt idx="1">
                  <c:v>1.811542</c:v>
                </c:pt>
                <c:pt idx="2">
                  <c:v>1.025034</c:v>
                </c:pt>
                <c:pt idx="3">
                  <c:v>0.691225</c:v>
                </c:pt>
                <c:pt idx="4">
                  <c:v>0.68388</c:v>
                </c:pt>
                <c:pt idx="5">
                  <c:v>0.652638</c:v>
                </c:pt>
                <c:pt idx="6">
                  <c:v>0.574938</c:v>
                </c:pt>
                <c:pt idx="7">
                  <c:v>0.475323</c:v>
                </c:pt>
                <c:pt idx="8">
                  <c:v>0.4717</c:v>
                </c:pt>
                <c:pt idx="9">
                  <c:v>0.415449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Motor — Weekly Executive Review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Periode: 13 – 19 Juli 2026  (Minggu ke-29)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4846320"/>
            <a:ext cx="548640" cy="54864"/>
          </a:xfrm>
          <a:prstGeom prst="rect">
            <a:avLst/>
          </a:prstGeom>
          <a:solidFill>
            <a:srgbClr val="F9A82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Kinerja Minggu Ini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indikator utama performa penjualan mingguan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1945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9,43 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31089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 transaksi valid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21945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19202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 TERJUAL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31089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10 tipe produk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21945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233,9%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55080" y="19202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ACHIEVEMENT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31089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12 cabang &gt; target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16916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89720" y="21945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NMAX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89720" y="19202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89720" y="31089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27,9% dari total revenue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cabang mencatatkan pencapaian di atas 100% target mingguan — pertama kali dalam periode pelaporan sistem baru.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Report — Minggu 29 (13–19 Juli 2026)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Performance: Actual vs Target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Realisasi penjualan (miliar Rupiah) dibanding target mingguan per cabang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112471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Report — Minggu 29 (13–19 Juli 2026)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Sorotan Performa Cabang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4389120"/>
          </a:xfrm>
          <a:prstGeom prst="roundRect">
            <a:avLst>
              <a:gd name="adj" fmla="val 1667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Bekasi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355,3%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Rate — pencapaian tertinggi dari 12 cabang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923.721.000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Sales vs target Rp 260.000.000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5029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Kontributor revenue terbesar #2 nasional (9,8% dari total)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303520" cy="4389120"/>
          </a:xfrm>
          <a:prstGeom prst="roundRect">
            <a:avLst>
              <a:gd name="adj" fmla="val 1667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TERENDAH (TETAP DI ATAS TARGET)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1965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Serang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629400" y="2606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139,0%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62940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Rate — tetap melampaui target mingguan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650.659.000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940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Sales vs target Rp 468.000.000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50292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seluruh cabang capai target — tidak ada cabang gagal target minggu ini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Report — Minggu 29 (13–19 Juli 2026)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Performance: Kontributor Revenue Utama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34440"/>
          <a:ext cx="69494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635240" y="1234440"/>
            <a:ext cx="4023360" cy="49377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7909560" y="16002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47,1%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909560" y="24688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total revenue mingguan berasal dari 2 produk saja: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NMAX (27,9%) + Aerox (19,2%)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909560" y="3657600"/>
            <a:ext cx="3291840" cy="0"/>
          </a:xfrm>
          <a:prstGeom prst="line">
            <a:avLst/>
          </a:prstGeom>
          <a:noFill/>
          <a:ln w="12700">
            <a:solidFill>
              <a:srgbClr val="4A55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09560" y="3840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Implikasi Bisnis: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09560" y="42062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4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Peluang: prioritas stok &amp; promosi.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4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Risiko: ketergantungan tinggi pada 2 tipe produk.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Report — Minggu 29 (13–19 Juli 2026)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Opportunities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Peluang pertumbuhan dan area perbaikan yang teridentifikasi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34540"/>
            <a:ext cx="822960" cy="82296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345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965960" y="1892808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Replikasi Best Practice Sales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965960" y="2313432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 (27 transaksi/minggu) vs sales rep terendah (9 transaksi/minggu) — peluang coaching untuk tingkatkan konsistensi closing tim.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80460"/>
            <a:ext cx="822960" cy="82296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804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965960" y="3538728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Metodologi Target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965960" y="3959352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achievement 233,9% di seluruh cabang mengindikasikan target mingguan berada di bawah kapasitas riil penjualan.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98348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53263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3263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🛈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965960" y="5184648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Data Entry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965960" y="5605272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transaksi (3,4%) tercatat tanpa nama sales rep. Perlu ditelusuri untuk akurasi evaluasi performa individu ke depan.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Report — Minggu 29 (13–19 Juli 2026)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Action Plan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tindak lanjut yang diusulkan untuk periode berikutnya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262E6E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Pertahankan strategi operasional di seluruh cabang — distribusi revenue sudah merata dan sehat.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262E6E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1874520"/>
            <a:ext cx="548640" cy="54864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132320" y="178308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Prioritaskan stok &amp; promosi NMAX dan Aerox, dengan tetap menjaga diversifikasi produk lain.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262E6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291840"/>
            <a:ext cx="548640" cy="54864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Lakukan review metodologi penetapan target mingguan bersama tim terkait.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0632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262E6E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3291840"/>
            <a:ext cx="548640" cy="54864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132320" y="320040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Selenggarakan sesi best-practice sharing dari top performer ke sales rep dengan closing rendah.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262E6E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709160"/>
            <a:ext cx="548640" cy="54864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709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08760" y="461772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Perbaiki kepatuhan data entry (kelengkapan nama sales rep) pada sistem pencatatan transaksi.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Report — Minggu 29 (13–19 Juli 2026)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2026-07-18T11:37:37Z</dcterms:created>
  <dcterms:modified xsi:type="dcterms:W3CDTF">2026-07-18T11:37:37Z</dcterms:modified>
</cp:coreProperties>
</file>